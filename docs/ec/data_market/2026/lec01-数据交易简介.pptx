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64" autoAdjust="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2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开场强调本章是全书开篇：从生产要素、交易意义、基本概念和核心要求四部分建立全局认识。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这一页给学生明确学习目标，避免第一章看起来只是背景介绍。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强调这四部分不是并列堆砌，而是逐步递进。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用石油对比数据，引入本章核心：数据交易不能简单套用传统商品交易规则。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从传统四大生产要素讲起，理解数据为什么能成为数字经济时代的新型生产要素。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这一页是四大要素总览，之后四页采用统一格式展开。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按照统一模板讲解土地要素：先讲定义，再讲内涵、经济特征与报酬。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按照统一模板讲解劳动力要素：先讲定义，再讲内涵、经济特征与报酬。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按照统一模板讲解资本要素：先讲定义，再讲内涵、经济特征与报酬。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按照统一模板讲解企业家才能要素：先讲定义，再讲内涵、经济特征与报酬。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用表格统一四大传统生产要素格式，解决用户指出的不统一问题。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强调生产要素演化反映生产力发展阶段。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数据要素的定义与它在经济中的作用。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先讲六个经济属性，后面再补充持久性、非物理性与伴随式生成。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强调数据属性并不只是经济属性，还包括敏感性和合规约束。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简化原文表1.1，保留教学主线。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数据成为生产要素并不意味着价值自动实现，交易是连接供给、需求和价值实现的机制。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按照原文结构：现实必要性、经济学意义、战略意义三层展开。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数据孤岛是数据交易必要性最直接的现实来源。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强调供给和需求往往不在同一主体。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数据价值来自被使用，而非仅仅被拥有。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原文强调AI系统对高质量数据的需求。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将现实必要性自然过渡到比较优势。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用绝对优势和比较优势对比，为OpenAI与Scale AI例子做铺垫。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数字源自用户提供的教材文本，强调仅为教学设定。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这一页解释为什么需要进入机会成本分析。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用公式解释训练大模型的机会成本。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用公式解释数据标注的机会成本。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强调比较优势的核心逻辑。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自给自足是后续比较的基准。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分工提高社会总产出。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解释为什么分工后还需要交易机制。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交易价格必须位于双方机会成本之间。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比较分工与交易后的最终收益。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总结比较优势和专业化分工的章节主旨。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保留原文中对中国数据战略的总结，但简化政策细节。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国际视角不需要展开所有国家，只保留共同趋势。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战略意义的最后一页，回到AI和国家竞争。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明确什么是数据交易、谁参与交易、交易什么、以什么形式交易，以及市场如何运行。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开启1.3，提示本节结构。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尽量忠实保留定义1.1及三个基本要点。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这是数据交易定义中最容易被学生误解的点。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忠实展开1.3.2中五类主体。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用表格补充内容，避免主体部分太少。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忠实保留数据交易对象三类。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数据集类交易对象详解。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统计查询数据详解。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机器学习模型类交易对象详解。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专门补回原文1.3.4数据交易形式，回应用户指出的数据交易形式缺失。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交易形式1/3，免费和谈判。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交易形式2/3，买断制和订阅制。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交易形式3/3，调用次数和时间许可。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概括1.3.5数据交易框架。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数据提供方详解。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数据服务方详解。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数据使用方获得三类输出。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数据要素市场的综合功能。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数据能够交易并不意味着交易能够顺利发生，还必须解决产权、定价、公平、安全与合规等核心问题。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概览1.4四类核心要求。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产权问题是数据交易基础。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定价问题要忠实保留原文中的完全竞争市场框架失效、垄断、外部性、信息不对称。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补充原文1.4.2中的三类市场失灵。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公平问题要从贡献分配、交易过程和激励三方面解释。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安全问题要以隐私、安全、合规三者为一体讲。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最后一页总结全章主线。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11112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77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数据交易理论与技术 · 第一章 数据交易简介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750"/>
            <a:ext cx="12191695" cy="6858000"/>
          </a:xfrm>
          <a:prstGeom prst="rect">
            <a:avLst/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0" y="1417320"/>
            <a:ext cx="6675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数据交易简介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434840" y="2212848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2108229"/>
            <a:ext cx="4754880" cy="0"/>
          </a:xfrm>
          <a:prstGeom prst="line">
            <a:avLst/>
          </a:prstGeom>
          <a:noFill/>
          <a:ln w="19050">
            <a:solidFill>
              <a:srgbClr val="0F5C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525448"/>
            <a:ext cx="6217920" cy="10058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核心问题：数据为什么可以成为生产要素？为什么需要交易？数据交易如何运行，又面临哪些核心要求？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439872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刘金飞 · </a:t>
            </a:r>
            <a:r>
              <a:rPr lang="en-US" sz="2400" dirty="0" err="1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吴一航</a:t>
            </a:r>
            <a:endParaRPr lang="en-US" sz="2400" dirty="0">
              <a:solidFill>
                <a:srgbClr val="48666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</a:rPr>
              <a:t>浙江大学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本章学习目标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90472"/>
            <a:ext cx="3099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理解概念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810512"/>
            <a:ext cx="3099816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解释生产要素、数据要素与数据交易的基本含义；区分数据交易与传统商品交易。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73152" cy="12344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90472"/>
            <a:ext cx="3099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理解意义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1810512"/>
            <a:ext cx="3099816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从现实必要性、比较优势和战略意义三个层面说明为什么需要数据交易。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25880"/>
            <a:ext cx="73152" cy="12344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90472"/>
            <a:ext cx="3099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理解框架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1810512"/>
            <a:ext cx="3099816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识别数据交易主体、交易对象、交易形式与基本运行流程。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828800" y="3246120"/>
            <a:ext cx="3657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3246120"/>
            <a:ext cx="73152" cy="123444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3410712"/>
            <a:ext cx="3328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理解难点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29968" y="3730752"/>
            <a:ext cx="3328416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把握产权、定价、公平、安全与合规等核心要求。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675120" y="3246120"/>
            <a:ext cx="3657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246120"/>
            <a:ext cx="73152" cy="123444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3410712"/>
            <a:ext cx="3328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形成主线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76288" y="3730752"/>
            <a:ext cx="3328416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为后续博弈论、机制设计、数据定价、收益分配与安全技术奠定基础。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章节结构：从“要素”到“交易机制”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247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97864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Roadmap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146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73152" cy="205740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933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生产要素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313432"/>
            <a:ext cx="2185416" cy="1463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传统生产要素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数据要素及其特点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19272" y="2852928"/>
            <a:ext cx="201168" cy="0"/>
          </a:xfrm>
          <a:prstGeom prst="line">
            <a:avLst/>
          </a:prstGeom>
          <a:noFill/>
          <a:ln w="15240">
            <a:solidFill>
              <a:srgbClr val="4866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1828800"/>
            <a:ext cx="25146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828800"/>
            <a:ext cx="73152" cy="205740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9933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交易意义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21608" y="2313432"/>
            <a:ext cx="2185416" cy="1463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必要性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比较优势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战略意义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08192" y="2852928"/>
            <a:ext cx="201168" cy="0"/>
          </a:xfrm>
          <a:prstGeom prst="line">
            <a:avLst/>
          </a:prstGeom>
          <a:noFill/>
          <a:ln w="15240">
            <a:solidFill>
              <a:srgbClr val="4866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828800"/>
            <a:ext cx="25146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828800"/>
            <a:ext cx="73152" cy="205740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9933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基本概念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2313432"/>
            <a:ext cx="2185416" cy="1463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定义、主体、对象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形式、框架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97112" y="2852928"/>
            <a:ext cx="201168" cy="0"/>
          </a:xfrm>
          <a:prstGeom prst="line">
            <a:avLst/>
          </a:prstGeom>
          <a:noFill/>
          <a:ln w="15240">
            <a:solidFill>
              <a:srgbClr val="4866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1828800"/>
            <a:ext cx="25146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828800"/>
            <a:ext cx="73152" cy="205740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448" y="19933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1.4 核心要求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99448" y="2313432"/>
            <a:ext cx="2185416" cy="1463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产权、定价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公平、安全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数据可以像石油一样交易吗？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10515600" cy="32918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这个问题看似简单，却很快遇到三类麻烦。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73152" cy="201168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84832"/>
            <a:ext cx="30083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2404872"/>
            <a:ext cx="300837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一桶石油卖出后，卖方失去石油；一份数据复制给买方后，卖方仍可保留同样的数据。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3375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920240"/>
            <a:ext cx="73152" cy="201168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084832"/>
            <a:ext cx="30083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价值依赖场景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2404872"/>
            <a:ext cx="300837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同一份数据对广告公司、医院、金融机构的价值可能完全不同。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2440" y="1920240"/>
            <a:ext cx="33375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920240"/>
            <a:ext cx="73152" cy="201168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2084832"/>
            <a:ext cx="30083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敏感与合规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3608" y="2404872"/>
            <a:ext cx="300837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数据可能包含个人信息、商业秘密或重要数据，不能简单“一手交钱，一手交数据”。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892040"/>
            <a:ext cx="10058400" cy="4114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因此，数据交易是融合技术、经济、法律与治理的新兴交叉系统</a:t>
            </a:r>
            <a:r>
              <a:rPr lang="en-US" sz="21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生产要素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79776"/>
            <a:ext cx="7772400" cy="0"/>
          </a:xfrm>
          <a:prstGeom prst="line">
            <a:avLst/>
          </a:prstGeom>
          <a:noFill/>
          <a:ln w="19050">
            <a:solidFill>
              <a:srgbClr val="BFE4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7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从传统四大生产要素讲起，理解数据为什么能成为数字经济时代的新型生产要素。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0" y="621792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 数据交易简介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什么是生产要素？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生产要素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生产要素是产品和服务生产过程中投入的各类资源。传统经济学认为，生产并非单一资源发挥作用，而是多种要素共同参与、相互配合的过程。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73152" cy="15087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9631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土地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816352"/>
            <a:ext cx="218541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自然资源与空间基础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233172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331720"/>
            <a:ext cx="73152" cy="15087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249631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劳动力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21608" y="2816352"/>
            <a:ext cx="218541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人的体力与智力活动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331720"/>
            <a:ext cx="73152" cy="150876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49631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19088" y="2816352"/>
            <a:ext cx="218541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设备、资金与技术工具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15400" y="233172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2331720"/>
            <a:ext cx="73152" cy="150876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249631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企业家才能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16568" y="2816352"/>
            <a:ext cx="218541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组织协调并承担风险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663440"/>
            <a:ext cx="10241280" cy="594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四类要素相辅相成：土地提供基础，劳动力执行生产，资本提升效率，企业家才能负责组织与创新。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土地要素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生产要素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704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泛指一切可以被人类利用的自然资源；核心特征是自然存在性。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73152" cy="19659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主要内涵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地表资源：农业、林业、建设用地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地下资源：矿产、石油、天然气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水域资源：河流、湖泊、海洋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自然条件：气候、日照、风力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28800"/>
            <a:ext cx="73152" cy="19659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核心经济特征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供给稀缺且固定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位置不可移动，区位决定价值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质量异质，生产率差异大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可永续利用，但可能退化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73152" cy="19659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在经济中的作用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36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提供生产场所、空间和原始资源，是经济活动的物理基础。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土地所有者获得的报酬通常称为地租。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统一理解格式：定义 → 内涵 → 核心特征 → 经济作用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劳动力要素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生产要素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704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指人在生产或服务过程中投入的体力、知识、技能和经验。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73152" cy="19659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主要内涵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体力劳动：生产线、建筑、搬运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脑力劳动：程序员、科研人员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服务性劳动：教师、医生、顾问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不同劳动形式常相互交叉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28800"/>
            <a:ext cx="73152" cy="19659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核心经济特征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具有能动性与创造性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劳动者之间高度异质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供给依附于时间与生命周期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具有一定流动性但受多因素限制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73152" cy="19659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在经济中的作用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36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直接参与价值创造，将土地、资本和技术工具转化为产品与服务。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劳动者报酬通常称为工资或薪酬。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统一理解格式：定义 → 内涵 → 核心特征 → 经济作用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资本要素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生产要素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704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指为了生产更多商品和服务而投入生产过程的生产资料和资产。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73152" cy="196596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主要内涵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实物资本：机器、厂房、设备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金融资本：资金、贷款、投资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无形资本：软件、专利、品牌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流动资本：原材料、库存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28800"/>
            <a:ext cx="73152" cy="196596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核心经济特征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人造性与积累性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工具性与生产率提升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存在折旧与更新需求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专用性与流动性并存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73152" cy="196596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在经济中的作用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36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连接劳动与其他资源，提高生产效率并实现规模化生产。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资本回报通常表现为利息、租金或利润。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统一理解格式：定义 → 内涵 → 核心特征 → 经济作用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企业家才能要素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生产要素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704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指发现机会、组织资源、承担风险并推动创新的能力。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73152" cy="196596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主要内涵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机会识别：发现需求与技术机会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资源组织：组合土地、劳动、资本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风险承担：面对不确定性决策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创新推动：产品、技术、流程和模式创新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28800"/>
            <a:ext cx="73152" cy="196596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核心经济特征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组织性：整合分散要素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创新性：探索新机会与新模式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风险承担性：面对失败可能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稀缺性与异质性明显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73152" cy="196596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99339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在经济中的作用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3608" y="2313432"/>
            <a:ext cx="3054096" cy="1371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连接市场机会与生产要素，使静态资源转化为产品、服务和经济价值。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企业家报酬通常表现为企业利润。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统一理解格式：定义 → 内涵 → 核心特征 → 经济作用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四大传统生产要素：统一理解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四类要素的差别，不在于谁更重要，而在于它们回答生产活动中的不同问题。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2560320" cy="649224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01952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要素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3474720" y="1874520"/>
            <a:ext cx="2560320" cy="649224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901952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回答的问题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2560320" cy="649224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2472" y="1901952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核心作用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595360" y="1874520"/>
            <a:ext cx="2560320" cy="649224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1901952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典型报酬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14400" y="2523744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551176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土地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474720" y="2523744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2551176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在哪里生产？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035040" y="2523744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2551176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提供自然资源与空间载体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595360" y="2523744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2551176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地租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14400" y="3172968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200400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劳动力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3474720" y="3172968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3200400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由谁执行生产？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035040" y="3172968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3200400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投入体力、知识、技能和经验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595360" y="3172968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3200400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工资/薪酬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914400" y="3822192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849624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3474720" y="3822192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3849624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用什么工具生产？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035040" y="3822192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3849624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提升效率、扩大规模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8595360" y="3822192"/>
            <a:ext cx="2560320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22792" y="3849624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利息/租金/利润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914400" y="4471416"/>
            <a:ext cx="2560320" cy="649224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" y="4498848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企业家才能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3474720" y="4471416"/>
            <a:ext cx="2560320" cy="649224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02152" y="4498848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如何组织生产？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6035040" y="4471416"/>
            <a:ext cx="2560320" cy="649224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498848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识别机会、组织资源、承担风险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8595360" y="4471416"/>
            <a:ext cx="2560320" cy="649224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22792" y="4498848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利润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资本强调“已经形成的资产和工具”，企业家才能强调“运用资产和工具的判断、组织与创新能力”。</a:t>
            </a:r>
            <a:endParaRPr lang="en-US" sz="15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生产要素的演变：生产力约束的变化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256032" cy="256032"/>
          </a:xfrm>
          <a:prstGeom prst="ellipse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627632"/>
            <a:ext cx="0" cy="758952"/>
          </a:xfrm>
          <a:prstGeom prst="line">
            <a:avLst/>
          </a:prstGeom>
          <a:noFill/>
          <a:ln w="15240">
            <a:solidFill>
              <a:srgbClr val="9AB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258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早期生产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32588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土地 + 劳动力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4960" y="132588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自然基础与直接劳动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256032" cy="256032"/>
          </a:xfrm>
          <a:prstGeom prst="ellipse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679192"/>
            <a:ext cx="0" cy="758952"/>
          </a:xfrm>
          <a:prstGeom prst="line">
            <a:avLst/>
          </a:prstGeom>
          <a:noFill/>
          <a:ln w="15240">
            <a:solidFill>
              <a:srgbClr val="9ABE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37744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237744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机器、厂房、设备提升效率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256032" cy="256032"/>
          </a:xfrm>
          <a:prstGeom prst="ellipse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730752"/>
            <a:ext cx="0" cy="758952"/>
          </a:xfrm>
          <a:prstGeom prst="line">
            <a:avLst/>
          </a:prstGeom>
          <a:noFill/>
          <a:ln w="15240">
            <a:solidFill>
              <a:srgbClr val="9ABE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4290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现代经济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42900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企业家才能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342900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组织、创新与风险承担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256032" cy="256032"/>
          </a:xfrm>
          <a:prstGeom prst="ellipse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4805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数字经济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448056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44805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连接、分析和智能决策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生产要素不是孤立概念，而是随着生产方式变化不断被认识和强化。进入数字经济时代，信息获取、处理与分析成为新的价值约束。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数据要素：数字经济时代的新型生产要素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10789920" cy="8229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数据要素是经济社会活动中产生并能够被开发利用的数据资源。它通过记录、连接和分析现实世界，提升传统生产要素的配置效率并创造新的经济价值。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2918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73152" cy="182880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58775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907792"/>
            <a:ext cx="2962656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生产、生活、交易、消费、治理和科研活动持续产生的信息记录。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423160"/>
            <a:ext cx="32918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423160"/>
            <a:ext cx="73152" cy="182880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58775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2907792"/>
            <a:ext cx="2962656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可以被存储、复制、加工、分析和流通，并与算法、算力和场景结合。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423160"/>
            <a:ext cx="32918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423160"/>
            <a:ext cx="73152" cy="182880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258775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2907792"/>
            <a:ext cx="2962656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提高资源配置效率，支持智能分析，催生新产品、新服务和新商业模式。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9875520" cy="4114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关键判断：数据不是替代传统要素，而是与传统要素深度融合的新型要素。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数据要素的经济属性（一）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99032"/>
            <a:ext cx="31455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可复制性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719072"/>
            <a:ext cx="3145536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数据可以以较低成本复制、传输和存储；交易不一定是所有权一次性转移。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234440"/>
            <a:ext cx="73152" cy="132588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399032"/>
            <a:ext cx="31455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非竞争性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4568" y="1719072"/>
            <a:ext cx="3145536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同一份数据可以被多个主体重复使用，一个主体使用并不必然减少他人使用可能。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123444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234440"/>
            <a:ext cx="73152" cy="132588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399032"/>
            <a:ext cx="31455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1719072"/>
            <a:ext cx="3145536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数据的生成、共享和使用可能对其他主体产生未通过市场价格反映的成本或收益。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71800"/>
            <a:ext cx="73152" cy="132588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136392"/>
            <a:ext cx="31455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可组合性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456432"/>
            <a:ext cx="3145536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单一数据集可能只反映局部信息，与其他数据融合后价值可能被放大。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43400" y="297180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971800"/>
            <a:ext cx="73152" cy="132588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3136392"/>
            <a:ext cx="31455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可分割性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44568" y="3456432"/>
            <a:ext cx="3145536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数据可以按字段、记录、时间、区域或权限切分，支持分级授权与按需交易。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55280" y="2971800"/>
            <a:ext cx="3474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2971800"/>
            <a:ext cx="73152" cy="132588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3136392"/>
            <a:ext cx="31455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异质性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56448" y="3456432"/>
            <a:ext cx="3145536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来源、质量、规模、时效性、稀缺性和适用场景差异显著，难以形成统一价格。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这些属性解释了为什么数据交易不能简单套用传统商品交易规则。</a:t>
            </a:r>
            <a:endParaRPr lang="en-US" sz="1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数据要素的经济属性（二）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17320"/>
            <a:ext cx="30175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182880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81912"/>
            <a:ext cx="26883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01952"/>
            <a:ext cx="2688336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数据在使用过程中通常不会像原材料那样被消耗，但经济价值可能随时间下降。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0175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417320"/>
            <a:ext cx="73152" cy="182880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581912"/>
            <a:ext cx="26883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非物理性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3168" y="1901952"/>
            <a:ext cx="2688336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数据以数字化信息形式存在，需要依附于存储介质、计算系统和网络环境。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0175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417320"/>
            <a:ext cx="73152" cy="182880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581912"/>
            <a:ext cx="26883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伴随式生成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1901952"/>
            <a:ext cx="2688336" cy="1234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许多数据并非专门生产，而是在交易、消费、治理和科研活动中伴随产生。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10241280" cy="8229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除经济属性外，数据还具有显著的敏感性和合规约束。许多数据包含个人信息、商业秘密或重要数据，其采集、使用、共享和交易需要受到隐私保护、安全管理和法律法规约束。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数据与传统生产要素的差异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" y="1361610"/>
            <a:ext cx="9966960" cy="38286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数据交易的意义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79776"/>
            <a:ext cx="7772400" cy="0"/>
          </a:xfrm>
          <a:prstGeom prst="line">
            <a:avLst/>
          </a:prstGeom>
          <a:noFill/>
          <a:ln w="19050">
            <a:solidFill>
              <a:srgbClr val="BFE4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7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数据成为生产要素并不意味着价值自动实现，交易是连接供给、需求和价值实现的机制。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0" y="621792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 数据交易简介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数据交易的意义：三层理解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784080" y="47548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数据交易的意义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63040"/>
            <a:ext cx="32918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63040"/>
            <a:ext cx="73152" cy="219456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2763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现实必要性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947672"/>
            <a:ext cx="296265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大量数据分散在不同主体手中，存在数据孤岛、供需错配和价值释放困难。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463040"/>
            <a:ext cx="32918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63040"/>
            <a:ext cx="73152" cy="21945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62763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经济学意义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1728" y="1947672"/>
            <a:ext cx="296265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不同主体在数据生产、加工、使用方面具有不同相对优势，交易促进专业化分工。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2918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63040"/>
            <a:ext cx="73152" cy="21945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2763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战略意义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93608" y="1947672"/>
            <a:ext cx="296265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数据流通关系到数字经济、产业升级、科技创新、市场建设与国家治理能力。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10241280" cy="47548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本节的核心问题：为什么仅仅“拥有数据”还不够，必须让数据在合适主体之间流动？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必要性之一：数据分散与数据孤岛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698480" cy="594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现实中，大量数据分散在医院、银行、平台、政府、制造企业等主体手中，存储在不同系统、组织和业务流程之中。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25603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73152" cy="146304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31343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医疗机构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2633472"/>
            <a:ext cx="2231136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诊疗记录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医学影像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11880" y="2148840"/>
            <a:ext cx="25603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148840"/>
            <a:ext cx="73152" cy="14630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231343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金融机构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13048" y="2633472"/>
            <a:ext cx="2231136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交易记录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信用数据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2148840"/>
            <a:ext cx="25603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148840"/>
            <a:ext cx="73152" cy="14630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31343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互联网平台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6248" y="2633472"/>
            <a:ext cx="2231136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用户行为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推荐日志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2148840"/>
            <a:ext cx="25603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2148840"/>
            <a:ext cx="73152" cy="14630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231343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制造企业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99448" y="2633472"/>
            <a:ext cx="2231136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设备运行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供应链数据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数据孤岛会导致跨主体共享和综合利用困难，也会造成重复采集和跨领域智能决策受限。数据交易提供制度化、市场化的流动渠道。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必要性之二：数据供给与需求错配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17320"/>
            <a:ext cx="38404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73152" cy="201168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81912"/>
            <a:ext cx="35112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有数据者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901952"/>
            <a:ext cx="351129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可能拥有丰富数据资源，却缺少将数据转化为产品、模型或决策能力的技术条件。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1417320"/>
            <a:ext cx="38404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417320"/>
            <a:ext cx="73152" cy="201168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9248" y="1581912"/>
            <a:ext cx="35112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有需求者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99248" y="1901952"/>
            <a:ext cx="351129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可能拥有算法、算力和业务场景，却缺乏足够高质量的数据资源。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915947"/>
            <a:ext cx="1783080" cy="347472"/>
          </a:xfrm>
          <a:prstGeom prst="rect">
            <a:avLst/>
          </a:prstGeom>
          <a:solidFill>
            <a:srgbClr val="0F5C6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交易连接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9160" y="2331720"/>
            <a:ext cx="2697480" cy="0"/>
          </a:xfrm>
          <a:prstGeom prst="line">
            <a:avLst/>
          </a:prstGeom>
          <a:noFill/>
          <a:ln w="25400">
            <a:solidFill>
              <a:srgbClr val="0F5C6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4206240"/>
            <a:ext cx="10241280" cy="7315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例子：医疗机构拥有诊疗和影像数据，AI 企业更擅长训练辅助诊断模型；电商平台掌握消费行为数据，品牌商更需要理解市场需求。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必要性之三：数据价值通过使用和流通实现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789920" cy="8229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数据本身只是潜在资源，价值不会因为“被拥有”而自动实现。只有经过采集、清洗、标注、融合、分析和应用，数据才能转化为知识、决策和经济价值。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D7ECEF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8529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58568" y="281635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D7ECEF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8529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04488" y="281635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5196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D7ECEF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8529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50408" y="281635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9788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7F1E9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8529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96328" y="281635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4380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7F1E9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8529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42248" y="281635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7F1E9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8529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10241280" cy="594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数据交易使闲置或低效利用的数据进入更合适的使用场景</a:t>
            </a: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endParaRPr lang="en-US" sz="1800" b="1" dirty="0">
              <a:solidFill>
                <a:srgbClr val="0F5C6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r>
              <a:rPr lang="en-US" sz="1800" b="1" dirty="0" err="1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从静态记录转化为参与生产和创新的关键要素</a:t>
            </a: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人工智能与数字经济对高质量数据的需求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98480" cy="6858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在机器学习、大模型、智能制造、数字金融、智慧医疗和智慧城市等应用中，数据不仅是模型训练输入，也是模型评估、优化和业务落地的基础。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25603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40280"/>
            <a:ext cx="73152" cy="173736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40487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724912"/>
            <a:ext cx="2231136" cy="11430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训练和评估需要足够覆盖的数据量。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03320" y="2240280"/>
            <a:ext cx="25603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240280"/>
            <a:ext cx="73152" cy="17373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40487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04488" y="2724912"/>
            <a:ext cx="2231136" cy="11430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噪声、缺失、标注精度会直接影响模型效果。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2240280"/>
            <a:ext cx="25603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240280"/>
            <a:ext cx="73152" cy="17373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40487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93408" y="2724912"/>
            <a:ext cx="2231136" cy="11430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单一机构往往难以覆盖充分场景。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81160" y="2240280"/>
            <a:ext cx="1920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2240280"/>
            <a:ext cx="73152" cy="173736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2328" y="2404872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82328" y="2724912"/>
            <a:ext cx="1591056" cy="11430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市场提供持续供给机制。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10058400" cy="4114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数据交易为人工智能和数字经济提供持续的数据供给机制，支撑算法创新和产业应用。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数据交易支撑专业化分工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不同主体可以围绕数据价值链形成分工，数据交易降低单个主体独立完成所有环节的成本。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0574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73152" cy="201168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7627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数据采集方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86968" y="2496312"/>
            <a:ext cx="172821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数据获取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34056" y="2907792"/>
            <a:ext cx="256032" cy="0"/>
          </a:xfrm>
          <a:prstGeom prst="line">
            <a:avLst/>
          </a:prstGeom>
          <a:noFill/>
          <a:ln w="15240">
            <a:solidFill>
              <a:srgbClr val="4866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90088" y="2011680"/>
            <a:ext cx="20574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2011680"/>
            <a:ext cx="73152" cy="201168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217627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数据服务商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191256" y="2496312"/>
            <a:ext cx="172821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清洗、标注、治理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38344" y="2907792"/>
            <a:ext cx="256032" cy="0"/>
          </a:xfrm>
          <a:prstGeom prst="line">
            <a:avLst/>
          </a:prstGeom>
          <a:noFill/>
          <a:ln w="15240">
            <a:solidFill>
              <a:srgbClr val="4866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94376" y="2011680"/>
            <a:ext cx="20574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94376" y="2011680"/>
            <a:ext cx="73152" cy="201168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217627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算法企业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495544" y="2496312"/>
            <a:ext cx="172821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模型训练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42632" y="2907792"/>
            <a:ext cx="256032" cy="0"/>
          </a:xfrm>
          <a:prstGeom prst="line">
            <a:avLst/>
          </a:prstGeom>
          <a:noFill/>
          <a:ln w="15240">
            <a:solidFill>
              <a:srgbClr val="4866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98664" y="2011680"/>
            <a:ext cx="20574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98664" y="2011680"/>
            <a:ext cx="73152" cy="201168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9832" y="217627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行业企业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99832" y="2496312"/>
            <a:ext cx="172821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业务应用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46920" y="2907792"/>
            <a:ext cx="256032" cy="0"/>
          </a:xfrm>
          <a:prstGeom prst="line">
            <a:avLst/>
          </a:prstGeom>
          <a:noFill/>
          <a:ln w="15240">
            <a:solidFill>
              <a:srgbClr val="4866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02952" y="2011680"/>
            <a:ext cx="20574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02952" y="2011680"/>
            <a:ext cx="73152" cy="201168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4120" y="217627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交易平台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104120" y="2496312"/>
            <a:ext cx="172821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撮合、定价、合规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029200"/>
            <a:ext cx="10241280" cy="4114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下一部分将用比较优势原理解释：为什么分工和交易能够提高整体效率。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比较优势：贸易为什么能让双方都受益？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10789920" cy="6858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比较优势原理指出：分工和贸易的基础并不只取决于绝对生产效率，更取决于不同主体在不同活动上的机会成本。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457200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73152" cy="21945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450592"/>
            <a:ext cx="4242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绝对优势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2770632"/>
            <a:ext cx="424281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回答“谁的产出更高”。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一个主体可能在所有活动上都更强。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2286000"/>
            <a:ext cx="457200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286000"/>
            <a:ext cx="73152" cy="219456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6288" y="2450592"/>
            <a:ext cx="4242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比较优势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76288" y="2770632"/>
            <a:ext cx="424281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回答“谁做这件事更划算”。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核心取决于为了获得一种产出而必须放弃多少另一种产出。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10241280" cy="3657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只要各方在不同领域具有相对优势，就可以通过专业化分工和交易提高总产出。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案例设定：AI 产业的专业化分工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33856"/>
            <a:ext cx="10698480" cy="5029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设定一个月的固定资源投入周期，用“智能单位”衡量模型训练产出，用“标注单位”衡量数据标注产出。数值仅用于教学说明。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011680"/>
            <a:ext cx="2125980" cy="60960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56232" y="20391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54780" y="2011680"/>
            <a:ext cx="2125980" cy="60960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2212" y="20391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训练大模型（单位）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2125980" cy="60960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20391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数据标注（单位）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06740" y="2011680"/>
            <a:ext cx="2125980" cy="60960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4172" y="20391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资源投入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2621280"/>
            <a:ext cx="2125980" cy="6096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26487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54780" y="2621280"/>
            <a:ext cx="2125980" cy="6096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2212" y="26487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2621280"/>
            <a:ext cx="2125980" cy="6096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26487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06740" y="2621280"/>
            <a:ext cx="2125980" cy="6096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4172" y="26487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0" y="3230880"/>
            <a:ext cx="2125980" cy="60960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56232" y="32583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54780" y="3230880"/>
            <a:ext cx="2125980" cy="60960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82212" y="32583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80760" y="3230880"/>
            <a:ext cx="2125980" cy="60960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32583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06740" y="3230880"/>
            <a:ext cx="2125980" cy="60960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4172" y="3258312"/>
            <a:ext cx="2071116" cy="554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4389120"/>
            <a:ext cx="49377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389120"/>
            <a:ext cx="73152" cy="109728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4553712"/>
            <a:ext cx="46085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绝对产出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5568" y="4873752"/>
            <a:ext cx="4608576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在两个方面都高于 Scale AI，因此在训练大模型和数据标注两个领域都具有绝对优势。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4389120"/>
            <a:ext cx="49377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389120"/>
            <a:ext cx="73152" cy="109728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4553712"/>
            <a:ext cx="46085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关键启发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10528" y="4873752"/>
            <a:ext cx="4608576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即使一方在所有活动上都更强，贸易和分工仍然可能使双方获益。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绝对优势并不决定分工方向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698480" cy="2377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在训练大模型方面：OpenAI（120） &gt; Scale AI（40）。
• 在数据标注方面：OpenAI（2400） &gt; Scale AI（1600）。
• 如果只看绝对产出，似乎 OpenAI 应该同时从事两项活动。
• 但真正的问题是：把资源用于某项活动时，需要放弃多少另一项产出？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1024128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机会成本和比较优势回答的是：谁在某个环节上具有更低的“放弃代价”。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机会成本分析：训练大模型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3F7F8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72768"/>
            <a:ext cx="4700016" cy="128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OpenAI：2400 ÷ 120 = 20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 1 单位模型能力，需要放弃 20 单位数据标注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50876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3F7F8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572768"/>
            <a:ext cx="4700016" cy="128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AI：1600 ÷ 40 = 40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 1 单位模型能力，需要放弃 40 单位数据标注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34930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&lt; 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332720" cy="5029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生产模型能力的机会成本更低，因此 OpenAI 在训练大模型上具有比较优势。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机会成本分析：数据标注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3F7F8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72768"/>
            <a:ext cx="4700016" cy="128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OpenAI：120 ÷ 2400 = 0.05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 1 单位标注，需要放弃 0.05 单位模型训练能力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50876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3F7F8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572768"/>
            <a:ext cx="4700016" cy="1289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AI：40 ÷ 1600 = 0.025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 1 单位标注，只需放弃 0.025 单位模型训练能力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34930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0.025 &lt; 0.05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332720" cy="5029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 生产数据标注的机会成本更低，因此 Scale AI 在数据标注上具有比较优势。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比较优势的结论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17320"/>
            <a:ext cx="45720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21488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81912"/>
            <a:ext cx="4242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901952"/>
            <a:ext cx="4242816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虽然在两个领域都有绝对优势，但在训练大模型方面机会成本更低。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因此更适合将更多资源投入模型训练。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417320"/>
            <a:ext cx="45720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417320"/>
            <a:ext cx="73152" cy="21488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1581912"/>
            <a:ext cx="4242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84848" y="1901952"/>
            <a:ext cx="4242816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虽然在两个领域都没有绝对优势，但在数据标注方面机会成本更低。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因此仍适合专注于数据标注。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绝对优势回答“谁更强”，比较优势回答“谁做某件事更划算”。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自给自足状态：各自 50% 资源投入两项活动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1554480"/>
            <a:ext cx="2773680" cy="68580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47672" y="15819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93920" y="1554480"/>
            <a:ext cx="2773680" cy="68580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1352" y="15819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训练大模型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67600" y="1554480"/>
            <a:ext cx="2773680" cy="68580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5032" y="15819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数据标注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2240280"/>
            <a:ext cx="2773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22677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93920" y="2240280"/>
            <a:ext cx="2773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1352" y="22677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67600" y="2240280"/>
            <a:ext cx="2773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5032" y="22677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20240" y="2926080"/>
            <a:ext cx="2773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7672" y="29535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93920" y="2926080"/>
            <a:ext cx="2773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1352" y="29535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67600" y="2926080"/>
            <a:ext cx="2773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5032" y="29535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20240" y="3611880"/>
            <a:ext cx="2773680" cy="68580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47672" y="36393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社会总产出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93920" y="3611880"/>
            <a:ext cx="2773680" cy="68580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1352" y="36393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67600" y="3611880"/>
            <a:ext cx="2773680" cy="68580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5032" y="3639312"/>
            <a:ext cx="2718816" cy="6309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709160"/>
            <a:ext cx="10241280" cy="4114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在自给自足状态下，OpenAI 和 Scale AI 都同时进行模型训练和数据标注。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按照比较优势重新分工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234440"/>
            <a:ext cx="10058400" cy="8229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OpenAI 将 75% 资源用于训练大模型，25% 资源用于数据标注。
• Scale AI 将 100% 资源用于数据标注。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20240" y="2514600"/>
            <a:ext cx="2773680" cy="60579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47672" y="254203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93920" y="2514600"/>
            <a:ext cx="2773680" cy="60579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1352" y="254203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训练大模型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67600" y="2514600"/>
            <a:ext cx="2773680" cy="60579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5032" y="254203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数据标注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3120390"/>
            <a:ext cx="2773680" cy="60579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314782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93920" y="3120390"/>
            <a:ext cx="2773680" cy="60579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1352" y="314782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67600" y="3120390"/>
            <a:ext cx="2773680" cy="60579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5032" y="314782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3726180"/>
            <a:ext cx="2773680" cy="60579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375361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93920" y="3726180"/>
            <a:ext cx="2773680" cy="60579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1352" y="375361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67600" y="3726180"/>
            <a:ext cx="2773680" cy="60579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5032" y="375361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20240" y="4331970"/>
            <a:ext cx="2773680" cy="60579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7672" y="435940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社会总产出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93920" y="4331970"/>
            <a:ext cx="2773680" cy="60579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1352" y="435940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67600" y="4331970"/>
            <a:ext cx="2773680" cy="60579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5032" y="4359402"/>
            <a:ext cx="2718816" cy="5509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486400"/>
            <a:ext cx="10241280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重新分工后，两类社会总产出都增加。</a:t>
            </a:r>
            <a:endParaRPr lang="en-US" sz="1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分工前后的社会总产出变化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508760"/>
            <a:ext cx="2148840" cy="7315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6232" y="153619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产出类型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1508760"/>
            <a:ext cx="2148840" cy="7315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5072" y="153619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2148840" cy="7315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153619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分工后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75320" y="1508760"/>
            <a:ext cx="2148840" cy="7315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53619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增长幅度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28800" y="2240280"/>
            <a:ext cx="21488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6232" y="226771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训练大模型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77640" y="2240280"/>
            <a:ext cx="21488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226771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1488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226771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75320" y="2240280"/>
            <a:ext cx="21488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26771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+12.5%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2971800"/>
            <a:ext cx="2148840" cy="7315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6232" y="299923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数据标注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77640" y="2971800"/>
            <a:ext cx="2148840" cy="7315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299923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148840" cy="7315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99923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2200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75320" y="2971800"/>
            <a:ext cx="2148840" cy="7315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2999232"/>
            <a:ext cx="2093976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+10.0%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280160" y="4251960"/>
            <a:ext cx="43891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0160" y="4251960"/>
            <a:ext cx="73152" cy="12344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1328" y="4416552"/>
            <a:ext cx="40599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社会总产出增加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81328" y="4736592"/>
            <a:ext cx="4059936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分工不是零和博弈，而是通过重新配置资源提高整体产出。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4251960"/>
            <a:ext cx="43891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4251960"/>
            <a:ext cx="73152" cy="123444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416552"/>
            <a:ext cx="40599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交易仍然必要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93408" y="4736592"/>
            <a:ext cx="4059936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分工后还需要通过交易重新分配产出，才能使双方都愿意参与。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贸易机制：双方都能接受的价格区间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10607040" cy="5029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 OpenAI 向 Scale AI 提供 1 单位模型能力等价服务时，Scale AI 需要支付 p 个单位的数据标注。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3F7F8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29968"/>
            <a:ext cx="4882896" cy="11978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OpenAI：生产 1 单位模型能力的机会成本是 20 个标注单位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只要 p &gt; 20，就愿意交换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3F7F8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29968"/>
            <a:ext cx="4882896" cy="11978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Scale AI：自己生产 1 单位模型能力的机会成本是 40 个标注单位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只要 p &lt; 40，就愿意购买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011680" y="406908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E1F4F4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4133088"/>
            <a:ext cx="7900416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双方都能接受的价格区间：20 &lt; p &lt; 40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贸易后的最终分配：双方都更好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789920" cy="594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假设市场交易价格 p = 28，即 Scale AI 用 28 单位数据标注交换 OpenAI 的 1 单位模型能力。若提供 700 单位标注，则可交换 25 单位模型能力。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1560" y="2103120"/>
            <a:ext cx="2514600" cy="6553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13055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2514600" cy="6553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213055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训练大模型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2103120"/>
            <a:ext cx="2514600" cy="6553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213055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数据标注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2514600" cy="65532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213055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相对于自给自足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2758440"/>
            <a:ext cx="2514600" cy="6553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78587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566160" y="2758440"/>
            <a:ext cx="2514600" cy="6553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93592" y="278587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65 (60)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80760" y="2758440"/>
            <a:ext cx="2514600" cy="6553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278587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1300 (1200)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595360" y="2758440"/>
            <a:ext cx="2514600" cy="65532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278587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两类产出均增加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51560" y="3413760"/>
            <a:ext cx="2514600" cy="6553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44119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Scale AI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566160" y="3413760"/>
            <a:ext cx="2514600" cy="6553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344119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(20)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80760" y="3413760"/>
            <a:ext cx="2514600" cy="6553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344119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900 (800)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595360" y="3413760"/>
            <a:ext cx="2514600" cy="65532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3441192"/>
            <a:ext cx="2459736" cy="600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两类产出均增加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贸易收益来自双方机会成本差异，而不是某一方在绝对意义上更强。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比较优势对数据交易的启示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32918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73152" cy="219456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专业化分工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1901952"/>
            <a:ext cx="296265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模型训练、数据采集、数据清洗、数据标注往往由不同主体完成。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918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21945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市场交换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1728" y="1901952"/>
            <a:ext cx="296265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数据市场连接不同主体，使数据从更适合生产和加工的一方流向更适合使用的一方。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21945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价值提升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93608" y="1901952"/>
            <a:ext cx="2962656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通过专业化分工和交易，整体效率和社会福利都可能提升。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404053"/>
            <a:ext cx="10241280" cy="1082347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数据市场的意义不只是“让某个主体获得外部数据</a:t>
            </a: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”，</a:t>
            </a:r>
            <a:endParaRPr lang="en-US" sz="1800" b="1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endParaRPr lang="en-US" sz="1800" b="1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r>
              <a:rPr lang="en-US" sz="1800" b="1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而是使不同主体围绕数据价值链进行更有效的资源配置</a:t>
            </a: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战略意义：中国的数据要素市场建设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25880"/>
            <a:ext cx="10607040" cy="34747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2020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年，将数据与土地、劳动力、资本、技术等传统要素并列，提出加快培育数据要素市场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“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数据二十条”围绕数据产权、流通交易、收益分配和安全治理，初步搭建数据基础制度体系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国家数据局成立，职责包括数据基础制度建设、数据资源整合共享和开发利用等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“数据要素×”三年行动计划提出培育数据商和第三方服务机构，推动场内外交易协调发展。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中国的数据战略正在从“认识数据要素”走向“建设数据市场”和“构建可信流通基础设施”。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战略意义：国际视角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25603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55448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9903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欧盟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719072"/>
            <a:ext cx="2231136" cy="9601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数据单一市场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共同欧洲数据空间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234440"/>
            <a:ext cx="25603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234440"/>
            <a:ext cx="73152" cy="155448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139903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67328" y="1719072"/>
            <a:ext cx="2231136" cy="9601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联邦数据治理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公共数据价值释放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234440"/>
            <a:ext cx="25603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234440"/>
            <a:ext cx="73152" cy="155448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399032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英国/德国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1719072"/>
            <a:ext cx="2231136" cy="9601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数据经济与信任生态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负责任数据使用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35440" y="1234440"/>
            <a:ext cx="22860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1234440"/>
            <a:ext cx="73152" cy="155448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1399032"/>
            <a:ext cx="1956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其他国家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36608" y="1719072"/>
            <a:ext cx="1956816" cy="9601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互操作性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公共数据开放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10607040" cy="9601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共同趋势：数据被视为经济增长、科技创新和公共治理的重要资源；各国通过制度、平台或基础设施推动数据共享、开放、流通和再利用；数据价值释放必须与隐私保护、安全治理和可信机制同步推进。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数据、人工智能与国家竞争力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10698480" cy="7315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现代人工智能系统，尤其是机器学习和大模型系统，依赖大量高质量数据进行训练、评估和优化。数据规模、质量、多样性和获取能力都会影响系统性能。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73152" cy="19202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679192"/>
            <a:ext cx="2871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企业层面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2999232"/>
            <a:ext cx="287121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获取外部数据，完善模型训练，改进业务决策。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251460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514600"/>
            <a:ext cx="73152" cy="19202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79192"/>
            <a:ext cx="2871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产业层面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2999232"/>
            <a:ext cx="287121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促进上下游数据协同，推动医疗、金融、制造、交通等智能化。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251460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514600"/>
            <a:ext cx="73152" cy="19202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2679192"/>
            <a:ext cx="2871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国家层面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3608" y="2999232"/>
            <a:ext cx="287121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构建数据要素市场和可信流通体系，提升数字经济竞争力和治理现代化水平。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数据交易基本概念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79776"/>
            <a:ext cx="7772400" cy="0"/>
          </a:xfrm>
          <a:prstGeom prst="line">
            <a:avLst/>
          </a:prstGeom>
          <a:noFill/>
          <a:ln w="19050">
            <a:solidFill>
              <a:srgbClr val="BFE4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7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明确什么是数据交易、谁参与交易、交易什么、以什么形式交易，以及市场如何运行。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0" y="621792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 数据交易简介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理解数据交易的五个基本问题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00200"/>
            <a:ext cx="2057400" cy="2377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" cy="23774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647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什么是数据交易？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084832"/>
            <a:ext cx="1728216" cy="1783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90088" y="1600200"/>
            <a:ext cx="2057400" cy="2377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0088" y="1600200"/>
            <a:ext cx="73152" cy="23774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91256" y="17647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谁参与？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91256" y="2084832"/>
            <a:ext cx="1728216" cy="1783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94376" y="1600200"/>
            <a:ext cx="2057400" cy="2377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94376" y="1600200"/>
            <a:ext cx="73152" cy="23774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5544" y="17647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交易什么？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95544" y="2084832"/>
            <a:ext cx="1728216" cy="1783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98664" y="1600200"/>
            <a:ext cx="2057400" cy="2377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98664" y="1600200"/>
            <a:ext cx="73152" cy="237744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17647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如何交易？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99832" y="2084832"/>
            <a:ext cx="1728216" cy="1783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形式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02952" y="1600200"/>
            <a:ext cx="2057400" cy="2377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2952" y="1600200"/>
            <a:ext cx="73152" cy="237744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17647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如何运行？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04120" y="2084832"/>
            <a:ext cx="1728216" cy="1783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数据交易并不只是简单的数据文件买卖，而是围绕数据资源、数据产品、数据服务及其使用权展开的一系列交易活动。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数据交易定义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63040"/>
            <a:ext cx="10424160" cy="1143000"/>
          </a:xfrm>
          <a:prstGeom prst="roundRect">
            <a:avLst>
              <a:gd name="adj" fmla="val 4800"/>
            </a:avLst>
          </a:prstGeom>
          <a:solidFill>
            <a:srgbClr val="E7F4F5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527048"/>
            <a:ext cx="10277856" cy="10149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数据交易：数据供给方与数据需求方直接或通过第三方平台进行匹配，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实现数据产品交换及相关使用权转移的机制。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154680"/>
            <a:ext cx="3108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54680"/>
            <a:ext cx="73152" cy="160020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3319272"/>
            <a:ext cx="27797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交易双方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3639312"/>
            <a:ext cx="2779776" cy="1005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需要存在数据供给方和数据需求方。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6280" y="3154680"/>
            <a:ext cx="3108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154680"/>
            <a:ext cx="73152" cy="160020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3319272"/>
            <a:ext cx="27797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交易渠道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27448" y="3639312"/>
            <a:ext cx="2779776" cy="1005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可直接协商，也可通过第三方平台或中介机构完成。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3154680"/>
            <a:ext cx="3108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154680"/>
            <a:ext cx="73152" cy="160020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3319272"/>
            <a:ext cx="27797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3639312"/>
            <a:ext cx="2779776" cy="1005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不局限于原始文件，也包括查询结果、接口、模型等衍生物。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数据交易中的“转移”通常不是所有权转移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由于数据具有可复制性和非竞争性，供给方在完成交易后往往仍然可以保留和使用相同数据。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40280"/>
            <a:ext cx="73152" cy="19202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404872"/>
            <a:ext cx="20939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724912"/>
            <a:ext cx="209397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谁可以使用数据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22402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240280"/>
            <a:ext cx="73152" cy="19202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2404872"/>
            <a:ext cx="20939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访问权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13048" y="2724912"/>
            <a:ext cx="209397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以何种接口访问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2402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240280"/>
            <a:ext cx="73152" cy="19202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2404872"/>
            <a:ext cx="20939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0528" y="2724912"/>
            <a:ext cx="209397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能调用多少次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06840" y="22402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2240280"/>
            <a:ext cx="73152" cy="192024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404872"/>
            <a:ext cx="20939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分析结果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08008" y="2724912"/>
            <a:ext cx="209397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获得统计或模型结果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10241280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因此交易规则中必须明确：使用范围、使用期限、交付方式和责任边界。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数据交易主体：多方共同完成交易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21488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150876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53312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数据供给方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673352"/>
            <a:ext cx="181965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提供数据资源、数据产品或数据服务。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71800" y="1188720"/>
            <a:ext cx="21488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188720"/>
            <a:ext cx="73152" cy="15087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353312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数据需求方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1673352"/>
            <a:ext cx="181965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通过交易获得数据价值，用于分析、建模或业务应用。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212080" y="1188720"/>
            <a:ext cx="21488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188720"/>
            <a:ext cx="73152" cy="15087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1353312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平台与中介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13248" y="1673352"/>
            <a:ext cx="181965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撮合、展示、评估、定价、结算、交付与合规管理。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452360" y="1188720"/>
            <a:ext cx="21488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1188720"/>
            <a:ext cx="73152" cy="150876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1353312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技术服务方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53528" y="1673352"/>
            <a:ext cx="181965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清洗、标注、脱敏、质量评估、隐私计算、水印等。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9692640" y="1188720"/>
            <a:ext cx="18288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1188720"/>
            <a:ext cx="73152" cy="150876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93808" y="1353312"/>
            <a:ext cx="14996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监管治理方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93808" y="1673352"/>
            <a:ext cx="1499616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维护秩序、保护隐私、审查合规。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931920"/>
            <a:ext cx="10515600" cy="6858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与普通商品交易相比，数据交易更容易涉及隐私保护、公共利益、竞争秩序和国家安全，因此需要更多主体共同支撑。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主体角色：供给、需求、撮合、技术与监管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3688080" cy="79248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6187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4236720" y="1234440"/>
            <a:ext cx="3688080" cy="79248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4152" y="126187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核心作用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924800" y="1234440"/>
            <a:ext cx="3688080" cy="792480"/>
          </a:xfrm>
          <a:prstGeom prst="rect">
            <a:avLst/>
          </a:prstGeom>
          <a:solidFill>
            <a:srgbClr val="0F5C63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2232" y="126187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关注重点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548640" y="202692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05435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供给方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236720" y="202692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4152" y="205435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整理、加工和产品化数据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924800" y="202692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2232" y="205435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控制权、授权、合法处理依据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48640" y="281940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4683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需求方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4236720" y="281940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4152" y="284683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获得数据产品或服务并用于具体任务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924800" y="281940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2232" y="284683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质量、覆盖、时效、合法性、成本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63931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平台/中介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4236720" y="361188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4152" y="363931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降低搜索和谈判成本，提高交易效率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7924800" y="361188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2232" y="363931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目录、合同、结算、交付、合规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548640" y="440436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43179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技术服务方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4236720" y="440436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64152" y="443179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让数据从“可谈”到“可交付、可监管、可追责”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7924800" y="4404360"/>
            <a:ext cx="3688080" cy="792480"/>
          </a:xfrm>
          <a:prstGeom prst="rect">
            <a:avLst/>
          </a:prstGeom>
          <a:solidFill>
            <a:srgbClr val="FFFFFF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2232" y="443179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脱敏、隐私计算、接口、安全存储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548640" y="5196840"/>
            <a:ext cx="3688080" cy="79248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522427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监管治理方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4236720" y="5196840"/>
            <a:ext cx="3688080" cy="79248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64152" y="522427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制定和执行规则，维护市场秩序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7924800" y="5196840"/>
            <a:ext cx="3688080" cy="792480"/>
          </a:xfrm>
          <a:prstGeom prst="rect">
            <a:avLst/>
          </a:prstGeom>
          <a:solidFill>
            <a:srgbClr val="F0F7F7"/>
          </a:solidFill>
          <a:ln w="8890">
            <a:solidFill>
              <a:srgbClr val="A6C4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2232" y="5224272"/>
            <a:ext cx="3633216" cy="737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来源合法、用途合规、过程安全、责任清晰</a:t>
            </a:r>
            <a:endParaRPr lang="en-US" sz="104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数据交易对象：从数据源到智能能力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三类对象的区别在于与原始数据的距离：越往右，越从“数据记录”走向“结果和能力”。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8" name="Shape 2"/>
          <p:cNvSpPr/>
          <p:nvPr/>
        </p:nvSpPr>
        <p:spPr>
          <a:xfrm>
            <a:off x="777240" y="1417320"/>
            <a:ext cx="333756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9" name="Shape 3"/>
          <p:cNvSpPr/>
          <p:nvPr/>
        </p:nvSpPr>
        <p:spPr>
          <a:xfrm>
            <a:off x="777240" y="1417320"/>
            <a:ext cx="73152" cy="28346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20" name="Text 4"/>
          <p:cNvSpPr/>
          <p:nvPr/>
        </p:nvSpPr>
        <p:spPr>
          <a:xfrm>
            <a:off x="978408" y="1581912"/>
            <a:ext cx="30083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数据集</a:t>
            </a:r>
            <a:endParaRPr lang="en-US" sz="1700" dirty="0"/>
          </a:p>
        </p:txBody>
      </p:sp>
      <p:sp>
        <p:nvSpPr>
          <p:cNvPr id="21" name="Text 5"/>
          <p:cNvSpPr/>
          <p:nvPr/>
        </p:nvSpPr>
        <p:spPr>
          <a:xfrm>
            <a:off x="978408" y="1901952"/>
            <a:ext cx="3008376" cy="2240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围绕对象、事件或场景形成的数据记录集合。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包括原始数据，也包括清洗、去重、标注、脱敏、融合或结构化后的加工数据。</a:t>
            </a:r>
            <a:endParaRPr lang="en-US" sz="1400" dirty="0"/>
          </a:p>
        </p:txBody>
      </p:sp>
      <p:sp>
        <p:nvSpPr>
          <p:cNvPr id="22" name="Shape 6"/>
          <p:cNvSpPr/>
          <p:nvPr/>
        </p:nvSpPr>
        <p:spPr>
          <a:xfrm>
            <a:off x="4434840" y="1417320"/>
            <a:ext cx="333756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3" name="Shape 7"/>
          <p:cNvSpPr/>
          <p:nvPr/>
        </p:nvSpPr>
        <p:spPr>
          <a:xfrm>
            <a:off x="4434840" y="1417320"/>
            <a:ext cx="73152" cy="28346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4" name="Text 8"/>
          <p:cNvSpPr/>
          <p:nvPr/>
        </p:nvSpPr>
        <p:spPr>
          <a:xfrm>
            <a:off x="4636008" y="1581912"/>
            <a:ext cx="30083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统计查询结果</a:t>
            </a:r>
            <a:endParaRPr lang="en-US" sz="1700" dirty="0"/>
          </a:p>
        </p:txBody>
      </p:sp>
      <p:sp>
        <p:nvSpPr>
          <p:cNvPr id="26" name="Text 9"/>
          <p:cNvSpPr/>
          <p:nvPr/>
        </p:nvSpPr>
        <p:spPr>
          <a:xfrm>
            <a:off x="4636008" y="1901952"/>
            <a:ext cx="3008376" cy="2240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基于原始数据或加工数据进行聚合、摘要、统计分析或受控查询后形成的数据结果。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如统计报表、聚合视图、区域热力图、差分隐私查询结果。</a:t>
            </a:r>
            <a:endParaRPr lang="en-US" sz="1400" dirty="0"/>
          </a:p>
        </p:txBody>
      </p:sp>
      <p:sp>
        <p:nvSpPr>
          <p:cNvPr id="27" name="Shape 10"/>
          <p:cNvSpPr/>
          <p:nvPr/>
        </p:nvSpPr>
        <p:spPr>
          <a:xfrm>
            <a:off x="8092440" y="1417320"/>
            <a:ext cx="333756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8" name="Shape 11"/>
          <p:cNvSpPr/>
          <p:nvPr/>
        </p:nvSpPr>
        <p:spPr>
          <a:xfrm>
            <a:off x="8092440" y="1417320"/>
            <a:ext cx="73152" cy="28346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29" name="Text 12"/>
          <p:cNvSpPr/>
          <p:nvPr/>
        </p:nvSpPr>
        <p:spPr>
          <a:xfrm>
            <a:off x="8293608" y="1581912"/>
            <a:ext cx="30083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模型与智能服务</a:t>
            </a:r>
            <a:endParaRPr lang="en-US" sz="1700" dirty="0"/>
          </a:p>
        </p:txBody>
      </p:sp>
      <p:sp>
        <p:nvSpPr>
          <p:cNvPr id="30" name="Text 13"/>
          <p:cNvSpPr/>
          <p:nvPr/>
        </p:nvSpPr>
        <p:spPr>
          <a:xfrm>
            <a:off x="8293608" y="1901952"/>
            <a:ext cx="3008376" cy="22402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基于数据训练、学习或推理形成的模型能力和智能化服务。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如风险预测、推荐模型、大模型接口、智能问答服务等。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交易对象一：数据集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10698480" cy="4114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含义：采集过程中直接获得，未经或仅经过最低限度清洗与格式转换的初始数据集合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表现：传感器读数、用户交互日志、未经标注的图片</a:t>
            </a:r>
            <a:r>
              <a:rPr lang="zh-CN" alt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音视频等；也包括清洗、去重、标注、脱敏后的加工数据集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价值：完整性与可再加工性，支持多角度、深层次探索分析与模型训练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挑战：可能包含噪声、缺失值或敏感信息，直接交易面临隐私泄露、合规风险和高处理成本。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交易对象二：统计查询</a:t>
            </a:r>
            <a:r>
              <a:rPr lang="zh-CN" alt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10698480" cy="4114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含义：根据买方需求，对原始数据进行聚合、摘要和统计加工后形成的衍生数据产品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表现：统计报表、汇总指标、聚合视图、区域热力图、人群画像统计、差分隐私查询结果等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核心特征：“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经过加工”和“结果导向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价值：直接提供可用于决策的统计结论，降低买方处理门槛，并在一定程度上减少原始数据直接流通的隐私风险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500" b="1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交易对象三</a:t>
            </a: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2500" b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</a:t>
            </a:r>
            <a:r>
              <a:rPr lang="zh-CN" alt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型与智能</a:t>
            </a:r>
            <a:r>
              <a:rPr lang="zh-CN" altLang="en-US" sz="2500" b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10698480" cy="44805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56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含义：以训练好的机器学习模型或算法服务作为核心交易对象</a:t>
            </a: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6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56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本质：将原始数据中的规律、模式或知识，通过算法学习过程封装为可执行模型或在线服务</a:t>
            </a: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6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56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表现：图像识别模型、风险预测评分模型、推荐算法引擎、大模型接口等</a:t>
            </a: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6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56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优势：买方无需接触底层训练数据，即可调用智能功能，降低数据安全与合规风险</a:t>
            </a: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6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大模型服务中，词元 token 成为模型服务计费和资源消耗度量的重要基础。</a:t>
            </a:r>
            <a:endParaRPr lang="en-US" sz="15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数据交易形式：计价、授权与交付方式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789920" cy="5486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数据交易形式是指数据产品或数据服务如何被计价、授权和交付。随着产品类型多样化，数据交易形成多元付费和授权模式。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645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73152" cy="118872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67712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587752"/>
            <a:ext cx="1316736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开放部分数据，吸引用户与生态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651760" y="2103120"/>
            <a:ext cx="1645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103120"/>
            <a:ext cx="73152" cy="118872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2267712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52928" y="2587752"/>
            <a:ext cx="1316736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定制化或稀缺数据，协商价格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480560" y="2103120"/>
            <a:ext cx="1645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103120"/>
            <a:ext cx="73152" cy="118872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267712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买断制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81728" y="2587752"/>
            <a:ext cx="1316736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一次付费，约定范围长期使用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1645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103120"/>
            <a:ext cx="73152" cy="118872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267712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2587752"/>
            <a:ext cx="1316736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定期付费，持续访问或更新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138160" y="2103120"/>
            <a:ext cx="1645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103120"/>
            <a:ext cx="73152" cy="118872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2267712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调用次数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39328" y="2587752"/>
            <a:ext cx="1316736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API、查询或计算次数计费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966960" y="2103120"/>
            <a:ext cx="1645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2103120"/>
            <a:ext cx="73152" cy="118872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68128" y="2267712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时间许可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8128" y="2587752"/>
            <a:ext cx="1316736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限定期限内获得数据使用权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1024128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具体采用哪种形式，取决于数据特性、使用需求、市场成熟度和商业策略。</a:t>
            </a:r>
            <a:endParaRPr lang="en-US" sz="1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交易形式（一）：免费与谈判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25880"/>
            <a:ext cx="489204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73152" cy="301752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490472"/>
            <a:ext cx="45628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免费模式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9848" y="1810512"/>
            <a:ext cx="4562856" cy="2423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通常作为市场进入、生态构建或公共服务策略。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数据提供方通过开放部分数据集吸引用户、培育应用、提升影响力或建立行业标准。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免费不等于无规则使用，仍需明确来源、范围、署名、再分发限制和合规要求。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489204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325880"/>
            <a:ext cx="73152" cy="301752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490472"/>
            <a:ext cx="45628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谈判定价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01968" y="1810512"/>
            <a:ext cx="4562856" cy="2423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适用于高度定制化或稀缺性较强的数据交易。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双方基于数据维度、覆盖范围、质量、独家性、使用场景、交付方式和风险责任等协商价格。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优点是灵活，缺点是交易成本高、透明度低。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交易形式（二）：买断制与订阅制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25880"/>
            <a:ext cx="489204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73152" cy="31089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490472"/>
            <a:ext cx="45628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买断制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9848" y="1810512"/>
            <a:ext cx="4562856" cy="2514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买方一次性支付费用后，在约定范围内获得长期或永久使用权。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适合长期价值、更新频率较低、应用场景相对稳定的数据资产。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注意：买断并不必然意味着所有权完全转移，是否排他、是否转授权、是否再加工需合同明确。</a:t>
            </a:r>
            <a:endParaRPr lang="en-US" sz="146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489204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325880"/>
            <a:ext cx="73152" cy="3108960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490472"/>
            <a:ext cx="45628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01968" y="1810512"/>
            <a:ext cx="4562856" cy="2514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买方定期付费以获得持续访问权限，如按月、季度或年支付。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适合持续更新的数据产品，如金融行情、企业信用、行业监测、交通状态和舆情数据。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有利于供给方形成稳定收入流，也有利于买方持续获取最新数据。</a:t>
            </a:r>
            <a:endParaRPr lang="en-US" sz="14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交易形式（三）：调用次数与时间许可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25880"/>
            <a:ext cx="489204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73152" cy="306324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490472"/>
            <a:ext cx="45628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按调用次数计费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9848" y="1810512"/>
            <a:ext cx="4562856" cy="2468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数据接口交易中的常见模式。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买方根据 API 调用量、查询次数或计算请求次数付费，也可采用阶梯计价。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适合需求波动较大、使用频率不稳定或难以预估数据需求规模的场景。</a:t>
            </a:r>
            <a:endParaRPr lang="en-US" sz="148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489204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325880"/>
            <a:ext cx="73152" cy="30632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490472"/>
            <a:ext cx="45628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时间许可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01968" y="1810512"/>
            <a:ext cx="4562856" cy="2468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买方在特定期限内获得数据产品或服务使用权，期满后权限终止。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与订阅制相比，时间许可不一定强调持续更新，而更强调固定项目周期内的使用权限。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适用于市场调研、短期科研项目、专项审计或竞赛任务。</a:t>
            </a:r>
            <a:endParaRPr lang="en-US" sz="1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数据交易框架：四个核心部分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9848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一个简化的数据市场框架包括数据提供方、数据服务方、数据使用方和数据要素市场。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5182996"/>
            <a:ext cx="2423160" cy="93101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182996"/>
            <a:ext cx="73152" cy="931014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5347588"/>
            <a:ext cx="2093976" cy="116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数据提供方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5667628"/>
            <a:ext cx="2093976" cy="62843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提供原始数据、可计算信息或查询能力。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5182996"/>
            <a:ext cx="2423160" cy="93101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5182996"/>
            <a:ext cx="73152" cy="931014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5347588"/>
            <a:ext cx="2093976" cy="116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数据服务方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58768" y="5667628"/>
            <a:ext cx="2093976" cy="62843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加工、建模、封装数据产品和服务。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5182996"/>
            <a:ext cx="2423160" cy="93101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5182996"/>
            <a:ext cx="73152" cy="931014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5347588"/>
            <a:ext cx="2093976" cy="116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数据使用方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47688" y="5667628"/>
            <a:ext cx="2093976" cy="62843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获取加工数据、模型或查询服务。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5182996"/>
            <a:ext cx="2057400" cy="93101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5182996"/>
            <a:ext cx="73152" cy="931014"/>
          </a:xfrm>
          <a:prstGeom prst="rect">
            <a:avLst/>
          </a:prstGeom>
          <a:solidFill>
            <a:srgbClr val="D68032"/>
          </a:solidFill>
          <a:ln w="12700">
            <a:solidFill>
              <a:srgbClr val="D680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5347588"/>
            <a:ext cx="1728216" cy="116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80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数据要素市场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36608" y="5667628"/>
            <a:ext cx="1728216" cy="62843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撮合、定价、交付、结算与治理。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473" y="1496621"/>
            <a:ext cx="9360131" cy="351592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框架角色一：数据提供方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10698480" cy="42976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数据资源来源：企业、平台、政府部门、科研机构或其他拥有数据资源的组织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数据类型：用户行为数据、交易数据、传感器数据、医学影像数据、生产运行数据、科研观测数据等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提供方式：直接提供原始数据；提供梯度参数、中间结果或其他可计算信息；提供查询调用能力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关键点：数据提供不必然意味着原始数据直接转移，也可以是受控访问、参数共享或查询服务。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框架角色二：数据服务方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10515600" cy="5029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数据服务方位于提供方和使用方之间，是将数据资源转化为可交易、可交付、可使用产品的关键环节。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73152" cy="19202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76272"/>
            <a:ext cx="2871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数据加工服务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496312"/>
            <a:ext cx="287121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清洗、脱敏、标注、融合和结构化处理。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011680"/>
            <a:ext cx="73152" cy="19202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176272"/>
            <a:ext cx="2871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模型训练服务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2496312"/>
            <a:ext cx="287121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利用数据训练机器学习模型，封装为模型能力。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011680"/>
            <a:ext cx="73152" cy="19202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2176272"/>
            <a:ext cx="28712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数据查询服务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2496312"/>
            <a:ext cx="2871216" cy="1325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通过接口、报表或受控计算环境提供查询结果。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10241280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服务方降低使用门槛，也降低原始数据直接流通带来的隐私和安全风险。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框架角色三：数据使用方获得什么？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32918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73152" cy="242316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加工后的数据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" y="1901952"/>
            <a:ext cx="2962656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经过清洗、脱敏和标注的数据集，适用于进一步分析或模型训练。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918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242316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机器学习模型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1901952"/>
            <a:ext cx="2962656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风险评分模型、图像识别模型或推荐模型，适用于自动化预测和决策。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2918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242316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数据查询服务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1901952"/>
            <a:ext cx="2962656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统计报告、实时查询接口或聚合分析结果，适用于只需要结论的场景。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不同输出形式对应不同层次的数据价值实现方式。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框架角色四：数据要素市场的作用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10698480" cy="42976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不是简单信息发布平台，而是交易撮合、产品展示、价格发现、合同管理、交付结算、安全审查、合规治理和争议处理的综合体系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降低交易成本：统一数据目录、产品描述、质量评价、交易规则和合同模板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增强交易可信：通过审计记录、访问控制、数据水印和可信计算环境，提高可追溯性和可信性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连接数据提供方、数据服务方和数据使用方，使数据从分散资源转化为可交易产品。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1.4 数据交易核心要求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79776"/>
            <a:ext cx="7772400" cy="0"/>
          </a:xfrm>
          <a:prstGeom prst="line">
            <a:avLst/>
          </a:prstGeom>
          <a:noFill/>
          <a:ln w="19050">
            <a:solidFill>
              <a:srgbClr val="BFE4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8F7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数据能够交易并不意味着交易能够顺利发生，还必须解决产权、定价、公平、安全与合规等核心问题。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0" y="621792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4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 数据交易简介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数据交易核心要求：四类基础问题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2514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73152" cy="214884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361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产权问题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1856232"/>
            <a:ext cx="2185416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谁有权交易数据？如何区分所有权、使用权和收益权？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1371600"/>
            <a:ext cx="2514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371600"/>
            <a:ext cx="73152" cy="214884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5361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定价问题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21608" y="1856232"/>
            <a:ext cx="2185416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数据价格如何形成？如何处理零成本复制和价值不确定性？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14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73152" cy="2148840"/>
          </a:xfrm>
          <a:prstGeom prst="rect">
            <a:avLst/>
          </a:prstGeom>
          <a:solidFill>
            <a:srgbClr val="3C7C5A"/>
          </a:solidFill>
          <a:ln w="12700">
            <a:solidFill>
              <a:srgbClr val="3C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5361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C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公平问题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9088" y="1856232"/>
            <a:ext cx="2185416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多方贡献如何衡量？收益如何合理分配？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15400" y="1371600"/>
            <a:ext cx="2514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371600"/>
            <a:ext cx="73152" cy="214884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1536192"/>
            <a:ext cx="21854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安全问题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16568" y="1856232"/>
            <a:ext cx="2185416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如何在隐私、安全、合规和可信条件下流通使用数据？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241280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这些问题也构成本书后续章节的主要线索。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产权问题：数据交易的基础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25880"/>
            <a:ext cx="10698480" cy="3749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66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传统商品产权通常明确且唯一，但数据可能涉及生成者、收集者、存储者、加工者等多个主体</a:t>
            </a:r>
            <a:r>
              <a:rPr lang="en-US" sz="16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6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6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数据具有可复制性，一份数据可以被多次使用而不会被消耗，因此需要区分所有权与使用权</a:t>
            </a:r>
            <a:r>
              <a:rPr lang="en-US" sz="16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6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6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需要明确权属关系和权利边界，设计授权与许可机制</a:t>
            </a:r>
            <a:r>
              <a:rPr lang="en-US" sz="16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6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6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还需要考虑可追溯性和责任划分，确保数据使用过程中能够界定各方责任。</a:t>
            </a:r>
            <a:endParaRPr lang="en-US" sz="1660" dirty="0"/>
          </a:p>
        </p:txBody>
      </p:sp>
      <p:sp>
        <p:nvSpPr>
          <p:cNvPr id="5" name="Shape 3"/>
          <p:cNvSpPr/>
          <p:nvPr/>
        </p:nvSpPr>
        <p:spPr>
          <a:xfrm>
            <a:off x="1554480" y="5303520"/>
            <a:ext cx="9144000" cy="502920"/>
          </a:xfrm>
          <a:prstGeom prst="roundRect">
            <a:avLst>
              <a:gd name="adj" fmla="val 10909"/>
            </a:avLst>
          </a:prstGeom>
          <a:solidFill>
            <a:srgbClr val="F3F7F8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7632" y="5367528"/>
            <a:ext cx="899769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产权清晰性直接影响数据交易的可行性与安全性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定价问题：传统完全竞争框架为何失效？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2588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210312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9047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810512"/>
            <a:ext cx="3054096" cy="1508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数据是非消耗品，消费者对同一份数据通常只有买或不买两种选择；市场需求曲线可近似类似传统市场。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73152" cy="210312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9047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1810512"/>
            <a:ext cx="3054096" cy="1508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数据由比特构成，复制可以认为几乎不需要成本。数据只有第一单位的固定成本，之后边际成本接近 0。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325880"/>
            <a:ext cx="73152" cy="210312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490472"/>
            <a:ext cx="3054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1810512"/>
            <a:ext cx="3054096" cy="1508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反需求曲线与反供给曲线不相交，完全竞争市场框架下难以形成均衡价格。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663440"/>
            <a:ext cx="10607040" cy="6400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关键：零成本复制性使数据的生产和定价必须面向需求，后续还涉及垄断、外部性和信息不对称。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定价问题：三类市场失灵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32918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73152" cy="251460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垄断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" y="1901952"/>
            <a:ext cx="2962656" cy="1920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数据来源、时效性和应用场景差异大，某些数据难以被替代；高前期成本与低复制成本可能带来自然垄断倾向。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918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251460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1901952"/>
            <a:ext cx="2962656" cy="1920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买家之间的竞争关系、个人数据相关性等，使一方的数据交易决策影响未参与交易者。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2918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251460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5819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信息不对称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1901952"/>
            <a:ext cx="2962656" cy="1920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卖家更了解数据质量；买家购买前很难准确判断数据价值；卖家也未必了解买家真实需求和支付意愿。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这三类问题解释了为什么数据定价需要专门的机制设计与经济模型。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公平问题：收益应如何分配？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数据价值往往不是由单一主体独立创造，而是多方共同参与的结果。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69848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原始数据可能来自用户行为，采集依赖平台系统，质量提升依赖清洗、标注和治理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模型训练依赖算法与算力，最终价值实现还依赖具体应用场景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62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收益分配不能只看数据量，还应考虑质量、稀缺性、互补性和对最终任务的实际贡献</a:t>
            </a: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2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62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公平问题也是激励问题：合理的贡献评估和收益分配可以激励更多主体参与数据生产、治理和流通。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486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典型方法：Shapley 值、Data Shapley、Beta-Shapley、Data-Banzhaf、KNN-Shapley 等贡献评估方法。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安全问题：可信数据交易的底线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隐私、安全与合规问题是数据交易中不可忽视的底线要求。许多数据包含个人信息、商业秘密、敏感业务信息或重要数据。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32918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73152" cy="2011680"/>
          </a:xfrm>
          <a:prstGeom prst="rect">
            <a:avLst/>
          </a:prstGeom>
          <a:solidFill>
            <a:srgbClr val="A53D2D"/>
          </a:solidFill>
          <a:ln w="12700">
            <a:solidFill>
              <a:srgbClr val="A53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2677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3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风险场景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2587752"/>
            <a:ext cx="296265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发布阶段暴露身份和行为轨迹；查询阶段被多次查询和交叉比对推断；使用阶段超范围使用或再转让。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2918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03120"/>
            <a:ext cx="73152" cy="2011680"/>
          </a:xfrm>
          <a:prstGeom prst="rect">
            <a:avLst/>
          </a:prstGeom>
          <a:solidFill>
            <a:srgbClr val="0F5C63"/>
          </a:solidFill>
          <a:ln w="12700">
            <a:solidFill>
              <a:srgbClr val="0F5C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2677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技术保护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2587752"/>
            <a:ext cx="296265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脱敏、匿名化、泛化、扰动、安全多方计算、联邦学习、可信执行环境、差分隐私等。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32918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103120"/>
            <a:ext cx="73152" cy="2011680"/>
          </a:xfrm>
          <a:prstGeom prst="rect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2267712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监管治理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3608" y="2587752"/>
            <a:ext cx="2962656" cy="1417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访问控制、用途限制、日志审计、数据水印、责任追踪与合规审查。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C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没有信任，数据难以流通；没有安全和合规，数据交易难以持续发展。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本章小结：从概念到后续技术路线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240">
            <a:solidFill>
              <a:srgbClr val="0F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88720"/>
            <a:ext cx="10698480" cy="4800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51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数据要素与传统生产要素深度融合，具有可复制性、非竞争性、外部性、可组合性、可分割性、异质性和敏感性等特点</a:t>
            </a: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1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51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数据交易的必要性来自数据孤岛、供需错配和价值释放困难；经济学意义可以通过比较优势与专业化分工理解</a:t>
            </a: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1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51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数据交易涉及供给方、需求方、平台与中介、技术服务方、监管治理方等多类主体</a:t>
            </a: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10" dirty="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</a:t>
            </a:r>
            <a:r>
              <a:rPr lang="en-US" sz="1510" dirty="0" err="1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交易对象包括数据集、统计查询数据和机器学习模型；交易形式包括免费、谈判、买断制、订阅制、按调用次数计费和时间许可</a:t>
            </a:r>
            <a:r>
              <a:rPr lang="en-US" sz="151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10">
              <a:solidFill>
                <a:srgbClr val="1634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510" dirty="0">
                <a:solidFill>
                  <a:srgbClr val="1634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
• 核心要求包括产权、定价、公平以及隐私、安全与合规，为后续理论和技术章节奠定基础。</a:t>
            </a:r>
            <a:endParaRPr lang="en-US" sz="15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777A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11217</Words>
  <Application>WPS 演示</Application>
  <PresentationFormat>Widescreen</PresentationFormat>
  <Paragraphs>1342</Paragraphs>
  <Slides>65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Zhejiang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数据交易简介</dc:title>
  <dc:creator>OpenAI</dc:creator>
  <dc:subject>数据交易理论与技术 第一章</dc:subject>
  <cp:lastModifiedBy>yhwu_is</cp:lastModifiedBy>
  <cp:revision>3</cp:revision>
  <dcterms:created xsi:type="dcterms:W3CDTF">2026-07-04T03:33:10Z</dcterms:created>
  <dcterms:modified xsi:type="dcterms:W3CDTF">2026-07-04T03:33:10Z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407EE08AA7D6C4FCF67E486AE22EAE4F_43</vt:lpwstr>
  </property>
  <property fmtid="{D5CDD505-2E9C-101B-9397-08002B2CF9AE}" pid="3" name="KSOProductBuildVer">
    <vt:lpwstr>2052-7.2.2.8955</vt:lpwstr>
  </property>
</Properties>
</file>